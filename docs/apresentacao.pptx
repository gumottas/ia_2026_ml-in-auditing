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1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C729-99BB-04CE-8C59-E040C7D3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5BF43-930C-3A46-1F01-B31413423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F2699-2D06-081B-785A-99315EB88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8F3C1-17EC-91E7-1B4A-771B6C9D8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05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12188952" cy="4572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MESTRADO/DOUTORADO EM ENGENHARIA DE PRODUÇÃO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Aprendizado de Máquina Ensemble para Predição de Compatibilidade entre Auditores e Projetos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abordagem por score de fit com dados sintéticos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Souza da Motta   ·   Vinicius Rego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Avançados em Engenharia de Produção e Sistemas: </a:t>
            </a:r>
            <a:r>
              <a:rPr lang="en-US" sz="1200" dirty="0" err="1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r>
              <a:rPr lang="en-US" sz="1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Artificial – 2026/1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515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158191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377440" y="16184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126480" y="161848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alocação de auditores importa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42616"/>
            <a:ext cx="10515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05840" y="280720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77440" y="28437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26480" y="28437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fit score, modelos e base teórica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10515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05840" y="4032504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37744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126480" y="40690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Treinamento, matriz de scores e heurísticas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93208"/>
            <a:ext cx="10515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05840" y="525780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2377440" y="52943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126480" y="529437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Desempenho, achados e conclusões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1188720" cy="822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LLM para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auditores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 err="1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</a:t>
            </a: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fit?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Auditores: Decisão Diária e Crítica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</a:t>
            </a: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auditor vai para qual projeto</a:t>
            </a: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decisão recorrente — hoje tomada de forma majoritariamente </a:t>
            </a: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intuitiva</a:t>
            </a: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91440" cy="2286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96112" y="2386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da decisão intuitiva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silenciosas de qualidade e eficiência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e insatisfação de clientes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Sub-aproveitamento de competências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não-documentada e não-auditável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22402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199632" y="2240280"/>
            <a:ext cx="91440" cy="2286000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55664" y="2386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do desafio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80720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auditores × 50 projetos simultâneos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combinatório além da capacidade humana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critérios: skills, nível, setor, certificações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critério quantitativo e replicável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908792" cy="1280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19379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a alocação como predição quantitativa de compatibilidade — transparente, reproduzível e mantendo o gestor no centro da decisão.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AA12-5927-7121-BBD0-35290D0F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0FC560-5EDE-755A-EE43-ED7A23729F28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06B18F-7C2D-D3AD-20F1-9A38E3EA6B1E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AB3F7D-07B8-DE17-BAA9-150EC7C2021B}"/>
              </a:ext>
            </a:extLst>
          </p:cNvPr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9CCA13-BD30-DD4D-AECD-EA3B68F7A8A1}"/>
              </a:ext>
            </a:extLst>
          </p:cNvPr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Auditores: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ótima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F61172-A0D1-473D-084C-834345CD9F4F}"/>
              </a:ext>
            </a:extLst>
          </p:cNvPr>
          <p:cNvSpPr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</a:t>
            </a: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auditor vai para qual projeto</a:t>
            </a: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decisão recorrente — hoje tomada de forma majoritariamente </a:t>
            </a: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intuitiva</a:t>
            </a: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BDAEAF9-2F64-30B7-8A0A-F66E92C2E38C}"/>
              </a:ext>
            </a:extLst>
          </p:cNvPr>
          <p:cNvSpPr/>
          <p:nvPr/>
        </p:nvSpPr>
        <p:spPr>
          <a:xfrm>
            <a:off x="640080" y="2240280"/>
            <a:ext cx="91440" cy="2286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6DC05E-8305-8F3B-539C-F583F32DB4DC}"/>
              </a:ext>
            </a:extLst>
          </p:cNvPr>
          <p:cNvSpPr/>
          <p:nvPr/>
        </p:nvSpPr>
        <p:spPr>
          <a:xfrm>
            <a:off x="896112" y="2386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professional “I” 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94EA0F-EBBD-328D-8537-5BDFA3BE57A3}"/>
              </a:ext>
            </a:extLst>
          </p:cNvPr>
          <p:cNvSpPr/>
          <p:nvPr/>
        </p:nvSpPr>
        <p:spPr>
          <a:xfrm>
            <a:off x="914400" y="280720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regulatórias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CFC, CVM, CPA, etc. 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independência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Senioridade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professional 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962CFA8-3033-982C-BE59-E0D627096BEC}"/>
              </a:ext>
            </a:extLst>
          </p:cNvPr>
          <p:cNvSpPr/>
          <p:nvPr/>
        </p:nvSpPr>
        <p:spPr>
          <a:xfrm>
            <a:off x="6199632" y="22402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6E360B-A894-90EC-A548-F255F7EA09C7}"/>
              </a:ext>
            </a:extLst>
          </p:cNvPr>
          <p:cNvSpPr/>
          <p:nvPr/>
        </p:nvSpPr>
        <p:spPr>
          <a:xfrm>
            <a:off x="6199632" y="2240280"/>
            <a:ext cx="91440" cy="2286000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955111-B09F-AD41-5D25-EAEC0BDDA99C}"/>
              </a:ext>
            </a:extLst>
          </p:cNvPr>
          <p:cNvSpPr/>
          <p:nvPr/>
        </p:nvSpPr>
        <p:spPr>
          <a:xfrm>
            <a:off x="6455664" y="23865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demandadas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“j”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F5CEF0A-028D-4A74-03B9-FFD39273598B}"/>
              </a:ext>
            </a:extLst>
          </p:cNvPr>
          <p:cNvSpPr/>
          <p:nvPr/>
        </p:nvSpPr>
        <p:spPr>
          <a:xfrm>
            <a:off x="6473952" y="280720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400" dirty="0">
              <a:solidFill>
                <a:srgbClr val="3341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Recorrencia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>
              <a:solidFill>
                <a:srgbClr val="3341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geográfica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contemplados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contemplado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7DEB47D-B612-BE8F-CD3D-92D1DD95E6E7}"/>
              </a:ext>
            </a:extLst>
          </p:cNvPr>
          <p:cNvSpPr/>
          <p:nvPr/>
        </p:nvSpPr>
        <p:spPr>
          <a:xfrm>
            <a:off x="640080" y="4754880"/>
            <a:ext cx="10908792" cy="1280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31FED45-49D0-1A28-7E06-1F74554FA9DE}"/>
              </a:ext>
            </a:extLst>
          </p:cNvPr>
          <p:cNvSpPr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6CF1A11-C215-41DE-A422-170FDCD17263}"/>
              </a:ext>
            </a:extLst>
          </p:cNvPr>
          <p:cNvSpPr/>
          <p:nvPr/>
        </p:nvSpPr>
        <p:spPr>
          <a:xfrm>
            <a:off x="914400" y="519379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professional de forma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ótima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associando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disponíveis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demandadas</a:t>
            </a:r>
            <a:endParaRPr lang="en-US" sz="15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06985AE-B9E0-8CA7-23DC-4A115DA21F9A}"/>
              </a:ext>
            </a:extLst>
          </p:cNvPr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6822752-4519-E655-9321-2A0A579F2F72}"/>
              </a:ext>
            </a:extLst>
          </p:cNvPr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399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1188720" cy="822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dados, fit score e modelos — com base teórica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MÉTODO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Framework</a:t>
            </a:r>
            <a:endParaRPr lang="en-US" sz="2600" dirty="0"/>
          </a:p>
        </p:txBody>
      </p:sp>
      <p:pic>
        <p:nvPicPr>
          <p:cNvPr id="6" name="Image 0" descr="slide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96" y="1371600"/>
            <a:ext cx="9989361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9377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fases: dos dados sintéticos a decisao de alocacao. O score de fit, previsto pelos modelos ensemble, alimenta as heuristicas que produzem o plano final.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teórica:  </a:t>
            </a: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estratégico (Ployhart, 2006) · matching de competências guiado pelo IIA Framework (2022) · ML supera regras em matching (Mukherjee et al., 2024).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MÉTODO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reais públicos, geramos dados calibrados pelo 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IIA Competency Framework</a:t>
            </a: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preservando correlações de domínio sem expor informação confidencial (Patki et al., 2016; Xu et al., 2019).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4564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456432" cy="109728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56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3364992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776472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nível, skills, certificações,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· 47 atributos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0280"/>
            <a:ext cx="34564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352544" y="2240280"/>
            <a:ext cx="3456432" cy="109728"/>
          </a:xfrm>
          <a:prstGeom prst="rect">
            <a:avLst/>
          </a:prstGeom>
          <a:solidFill>
            <a:srgbClr val="2E43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52544" y="2468880"/>
            <a:ext cx="3456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352544" y="3364992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3776472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complexidade, requisitos,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· 48 atributos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5008" y="2240280"/>
            <a:ext cx="34564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65008" y="2240280"/>
            <a:ext cx="3456432" cy="109728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065008" y="2468880"/>
            <a:ext cx="3456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065008" y="3364992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alocações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7888" y="3776472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auditor × projeto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fit score · 84 atributos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8006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calibradas: pirâmide hierárquica (25/30/20/15/10%), experiência (Normal), disponibilidade (Beta), duração (Log-Normal).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MÉTODO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Fit Score: Variável-Alvo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auditor × projeto em [0,1], como média ponderada de seis dimensões: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= 0,40·skills + 0,20·nível + 0,15·setor + 0,15·cert + 0,05·idioma + 0,05·disponibilidade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9736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59736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05456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Senioridade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9392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279392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25112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9048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99048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44768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18704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918704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64424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38360" y="2788920"/>
            <a:ext cx="17190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738360" y="29077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84080" y="34015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109087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91440" cy="178308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96112" y="4306824"/>
            <a:ext cx="10497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modelagem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4727448"/>
            <a:ext cx="10405872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Penalidade assimétrica de nível: forte se abaixo do mínimo (−40%/nível), leve se acima (−5%/nível) — reflete o risco operacional real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gaussiano N(0; 0,03): simula a variância de avaliações humanas e evita que o modelo apenas memorize a fórmula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MÉTODO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Modelos Ensemble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91440" cy="2286000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5636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árvores independentes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(Breiman, 2001)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(Geurts et al., 2006)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Paralelas, média → reduzem variância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199632" y="1417320"/>
            <a:ext cx="91440" cy="228600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55664" y="15636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árvores sequenciais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984248"/>
            <a:ext cx="4846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(Chen &amp; Guestrin, 2016)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(Ke et al., 2017) . CatBoost (Prokhorenkova et al., 2018)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Sequenciais, corrigem erros → reduzem viés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ensemble?  </a:t>
            </a: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 modelos isolados e redes neurais em dados tabulares heterogêneos (Sagi &amp; Rokach, 2018; Friedman, 2001).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9087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5537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avaliação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11880" y="5486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/ teste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5486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(Kohavi, 1995)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4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06840" y="5486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1188720" cy="822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predição à decisão de alocação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DESENVOLVIMENTO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Predição à Matriz de Scores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</a:t>
            </a: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M[i,j]</a:t>
            </a: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reúne o fit score de cada auditor para cada projeto. Para cada projeto, o ranking dos auditores dá candidatos com critério explícito.</a:t>
            </a:r>
            <a:endParaRPr lang="en-US" sz="1500" dirty="0"/>
          </a:p>
        </p:txBody>
      </p:sp>
      <p:pic>
        <p:nvPicPr>
          <p:cNvPr id="7" name="Image 0" descr="slide_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63" y="1965960"/>
            <a:ext cx="9156825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não resolve sozinha a alocação — um mesmo auditor é o melhor para vários projetos. É preciso uma heurística de atribuição.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DESENVOLVIMENTO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Heurísticas de Alocação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91440" cy="2651760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5636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— ótimo local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projeto, aloca o melhor auditor disponível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Computacionalmente trivial e intuitivo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consumir o melhor auditor cedo prejudica projetos seguintes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5349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199632" y="1417320"/>
            <a:ext cx="91440" cy="2651760"/>
          </a:xfrm>
          <a:prstGeom prst="rect">
            <a:avLst/>
          </a:prstGeom>
          <a:solidFill>
            <a:srgbClr val="2E43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55664" y="15636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Húngaro — ótimo global (Kuhn, 1955)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984248"/>
            <a:ext cx="48463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a soma total dos scores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matemática de otimalidade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 problema clássico de atribuição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08792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heurística é melhor? Depende da razão entre auditores disponíveis e projetos — não há vencedor universal. Investigamos isso nos resultados.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1188720" cy="822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Desempenho, achados, conclusões e limitações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dos Modelos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6035040" cy="28529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 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 0" descr="slide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17320"/>
            <a:ext cx="4937760" cy="18893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526280"/>
            <a:ext cx="109087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91440" cy="141732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914400" y="4709160"/>
            <a:ext cx="1040587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lidera (R²=0,9737) — tratamento nativo de variáveis categóricas (flags de skills/certs)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 LightGBM logo atrás; todos os modelos de boosting superam o bagging com folga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Interpretabilidade</a:t>
            </a:r>
            <a:endParaRPr lang="en-US" sz="2600" dirty="0"/>
          </a:p>
        </p:txBody>
      </p:sp>
      <p:pic>
        <p:nvPicPr>
          <p:cNvPr id="6" name="Image 0" descr="slide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7315200" cy="28559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371600"/>
            <a:ext cx="3703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001000" y="1371600"/>
            <a:ext cx="91440" cy="4160520"/>
          </a:xfrm>
          <a:prstGeom prst="rect">
            <a:avLst/>
          </a:prstGeom>
          <a:solidFill>
            <a:srgbClr val="2E43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57032" y="15179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5320" y="1938528"/>
            <a:ext cx="3200400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skills_match domina (~31%)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+ setor somam &gt;33%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+ gap: ~16%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aprendidos coincidem com os pesos do fit score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interpretável — não é caixa-preta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Achado: Abundância vs. Escassez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548640"/>
          </a:xfrm>
          <a:prstGeom prst="rect">
            <a:avLst/>
          </a:prstGeom>
          <a:solidFill>
            <a:srgbClr val="4A6B8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ABUNDÂNCIA · Greedy vence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auditores / 10 projetos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 </a:t>
            </a:r>
            <a:r>
              <a:rPr lang="en-US" sz="1900" b="1" dirty="0">
                <a:solidFill>
                  <a:srgbClr val="1E7A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8,62
</a:t>
            </a:r>
            <a:r>
              <a:rPr lang="en-US" sz="1900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Húngaro: </a:t>
            </a:r>
            <a:r>
              <a:rPr lang="en-US" sz="19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5,27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candidatos de sobra, a busca gulosa varre todo o pool.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41732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349240" cy="548640"/>
          </a:xfrm>
          <a:prstGeom prst="rect">
            <a:avLst/>
          </a:prstGeom>
          <a:solidFill>
            <a:srgbClr val="2E43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99632" y="14173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· Húngaro vence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auditores / 50 projetos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2606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 </a:t>
            </a:r>
            <a:r>
              <a:rPr lang="en-US" sz="19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29,80
</a:t>
            </a:r>
            <a:r>
              <a:rPr lang="en-US" sz="1900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Húngaro: </a:t>
            </a:r>
            <a:r>
              <a:rPr lang="en-US" sz="1900" b="1" dirty="0">
                <a:solidFill>
                  <a:srgbClr val="1E7A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34,25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82512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restrição, a otimização global evita desperdiçar bons auditores.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08792" cy="1234440"/>
          </a:xfrm>
          <a:prstGeom prst="rect">
            <a:avLst/>
          </a:prstGeom>
          <a:solidFill>
            <a:srgbClr val="EAF3EC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gerencial:  </a:t>
            </a: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folga de capacidade, use Greedy (simples e barato); em picos operacionais, o Húngaro justifica sua complexidade.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Conclusões, Limitações e Trabalhos Futuros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5643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91440" cy="429768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6112" y="156362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295351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formalizada como regressão de score de fit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CatBoost: R²=0,9737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alinhadas ao domínio (interpretável)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conforme o contexto operacional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345643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91440" cy="4297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26864" y="156362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1984248"/>
            <a:ext cx="295351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sintéticos não captam correlações reais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linear assume independência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auditor por projeto (sem equipes)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dimensão temporal de disponibilidade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45643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91440" cy="4297680"/>
          </a:xfrm>
          <a:prstGeom prst="rect">
            <a:avLst/>
          </a:prstGeom>
          <a:solidFill>
            <a:srgbClr val="2E43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48472" y="156362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1984248"/>
            <a:ext cx="295351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dados reais de firmas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para explicabilidade individual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equipes (set covering)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semântico com LLMs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Incorporação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auditor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anteriores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skills e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 skills e human skills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 para Compatibilidade Auditor–Projeto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3200400"/>
            <a:ext cx="12188952" cy="4572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Souza da Motta   ·   Vinicius Rego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referências completas no repositório do projeto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1369</Words>
  <Application>Microsoft Office PowerPoint</Application>
  <PresentationFormat>Widescreen</PresentationFormat>
  <Paragraphs>257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— Alocação de Auditores com ML Ensemble</dc:title>
  <dc:subject>PptxGenJS Presentation</dc:subject>
  <dc:creator>Gustavo Souza da Motta | Vinicius Rego</dc:creator>
  <cp:lastModifiedBy>Gustavo Motta</cp:lastModifiedBy>
  <cp:revision>3</cp:revision>
  <dcterms:created xsi:type="dcterms:W3CDTF">2026-06-19T21:51:57Z</dcterms:created>
  <dcterms:modified xsi:type="dcterms:W3CDTF">2026-06-26T19:01:42Z</dcterms:modified>
</cp:coreProperties>
</file>